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D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</a:rPr>
              <a:t>VASIREDDY VENKATADRI INTERNATIONAL TECHNOLOGICAL UNIVERSITY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VVITU Placement Portal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BA74"/>
                </a:solidFill>
              </a:rPr>
              <a:t>Enterprise Campus Placement &amp; Recruitment Management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10332720" cy="4572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A unified, role-governed platform automating student eligibility matching, neural OCR degree verification, screening questionnaires, and grounded AI-powered placement assistance.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solidFill>
            <a:srgbClr val="0F3B6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C20"/>
                </a:solidFill>
              </a:rPr>
              <a:t>PROJECT SPECIFICATIONS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48463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Academic Level: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B.Tech Final Year Major Project (2025–2026)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Department: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Computer Science and Engineering / IT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Key Domains: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Full-Stack Web Engineering, Neural OCR, RAG Vector 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EXECUTIVE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Project Abstract &amp;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2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5212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08760"/>
            <a:ext cx="521208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Manual spreadsheets, Google Forms, and fragmented communication channels create severe delays, eligibility errors, and document loss during high-volume campus recruitment.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5212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08760"/>
            <a:ext cx="5212080" cy="91440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Proposed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 centralized, 4-tier role-governed web application integrating automated eligibility verification, OCR document authentication, and an AI placement assistant.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5212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94760"/>
            <a:ext cx="5212080" cy="9144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Technologies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4348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Engineered with React 19, Node.js &amp; Express, PostgreSQL with pgvector, Prisma ORM, Tesseract.js neural OCR, and Google Gemini 2.5 Flash SDK.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794760"/>
            <a:ext cx="5212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794760"/>
            <a:ext cx="521208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Demonstrated Benefits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4348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Instantaneous 6-factor candidate filtering, autonomous alumni credential verification, zero-hallucination student Q&amp;A, and complete audit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OPERATIONAL NEED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Problem Statement &amp;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3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731520" cy="7772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630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Manual &amp; Error-Prone Eligibility Checks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18288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Cross-referencing hundreds of applicants against company criteria (CGPA cutoff, backlog limits, eligible branches) manually leads to human error and delayed shortlists.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10698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377440"/>
            <a:ext cx="731520" cy="7772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77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Unverified Recruiter Credentials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27432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Traditional open forms fail to authenticate alumni or recruiters, posing severe security risks regarding fraudulent job postings and student data exploitation.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10698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91840"/>
            <a:ext cx="731520" cy="7772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918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Application Tracking Disconnection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36576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Lack of unified tracking leaves students unaware of their application lifecycle stages (Applied, Shortlisted, Interview Scheduled, Offer Released, Rejected).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206240"/>
            <a:ext cx="731520" cy="7772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062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Document Misplacement &amp; Data Loss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45720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Physical resumes and emails are easily misplaced. System restarts often break unmanaged local storage paths, leading to lost student submissions.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10698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120640"/>
            <a:ext cx="731520" cy="7772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1206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45920" y="5212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Repetitive Placement Cell Overhead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45920" y="54864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Placement officers expend hundreds of hours addressing repetitive eligibility queries and compiling institutional placement reports manually.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SYSTEM GOALS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Core Objectives &amp; Deliverables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572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Multi-Role Access Control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18470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Implement strict RBAC across 4 user levels (Student, Alumni, Admin, Super Admin) with HttpOnly JWT authentication and IDOR protection.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24871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Automated 6-Factor Matching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27614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Develop a dynamic algorithm evaluating Skills (50%), Education (15%), Branch (10%), Experience (10%), CGPA/Backlogs (10%), and Certifications (5%).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3401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Neural OCR Verification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Deploy an on-premise Tesseract.js &amp; Sharp engine to autonomously verify alumni degree certificates via roll number, name, and institutional keywords.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43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Grounded RAG AI Assistant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45902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Integrate Google Gemini 2.5 Flash and PostgreSQL pgvector (768-dim embeddings) for zero-hallucination institutional placement guidance.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51206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257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5920" y="5230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8C"/>
                </a:solidFill>
              </a:rPr>
              <a:t>Bulk Administration &amp; Analytics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45920" y="55046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Provide placement officers with one-click Excel import/export, applicant screening question configuration, and automatic drive expiry.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COMPARATIVE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Existing vs. 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5 / 16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206240"/>
              </a:tblGrid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System Dimension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Existing Traditional Workflow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Proposed VVITU Placement Portal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8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Data Architecture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Fragmented Google Sheets &amp; WhatsApp links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Centralized PostgreSQL with Prisma ORM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Eligibility Verification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Manual spreadsheet filtering; prone to errors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Instant 6-factor dynamic matching calculation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Recruiter Onboarding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Unverified email communications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Autonomous OCR certificate verification &amp; approval desk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Student Applications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Unstructured Google Forms; resume email clutter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One-click apply with custom screening questionnaires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Query Resolution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In-person visits &amp; repetitive faculty calls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24/7 Grounded AI Assistant powered by RAG &amp; Gemini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Data Reporting &amp; Audit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Manual copy-pasting of placement lists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Automated Excel/CSV export &amp; immutable audit logs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ROLE-BASED ACCESS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System Users &amp; Role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6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246888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STUDENT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Candidate Portal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031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Academic profile (CGPA, backlogs, branch)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PDF resume upload with automated skill parsing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Dynamic eligibility match score viewing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Screening questionnaire submission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Real-time application stage tracking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146304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463040"/>
            <a:ext cx="2468880" cy="9144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ALUMNI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Recruiter Desk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286000"/>
            <a:ext cx="21031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Degree certificate upload with automated OCR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Job posting with CGPA/branch/backlog criteria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Custom pre-application screening questions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Applicant resume review &amp; profile inspection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Candidate stage progression (Shortlist/Select)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463040"/>
            <a:ext cx="2468880" cy="91440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ADMIN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Placement Officer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286000"/>
            <a:ext cx="21031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Centralized job moderation (Approve / Reject)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Alumni verification desk with OCR confidence audit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Student directory filtering by CGPA and branch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Bulk student import &amp; export to Excel/CSV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Institutional placement performance metrics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61120" y="146304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0" y="1463040"/>
            <a:ext cx="24688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SUPER_ADMIN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System Controller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2286000"/>
            <a:ext cx="21031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Provisioning &amp; lifecycle of administrator accounts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University-wide system settings configuration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Global security &amp; document verification audit logs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Multi-role permission oversight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MODULAR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Functional Requirements &amp;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7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91440" cy="1371600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Auth &amp; Security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965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JWT HttpOnly cookies, bcrypt hashing, IDOR prevention, password reset workflow.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91440" cy="13716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Student &amp; Resume Module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Profile completeness tracker, PDF text parsing, automated regex skill extraction, portfolio links.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017520"/>
            <a:ext cx="91440" cy="1371600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154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Job &amp; Screening Module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Recruiter job post drafting, admin moderation queue, custom screening questions, automatic deadline expiry.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017520"/>
            <a:ext cx="91440" cy="13716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154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Eligibility &amp; Matching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5204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Multi-factor weighted calculation (Skills, CGPA, Branch, Backlogs, Semester, Certifications).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572000"/>
            <a:ext cx="91440" cy="1371600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709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Verification &amp; OCR Desk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SHA-256 duplicate detection, Sharp preprocessing, Tesseract.js text extraction, fuzzy token matching.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57200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572000"/>
            <a:ext cx="91440" cy="13716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709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AI Placement Assistant (RAG)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50749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Automated job chunking, gemini-embedding-2 vectors, pgvector cosine search, Gemini 2.5 grounded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PROCESS TRACE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End-to-End Recruitment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8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645920"/>
            <a:ext cx="457200" cy="457200"/>
          </a:xfrm>
          <a:prstGeom prst="ellipse">
            <a:avLst/>
          </a:prstGeom>
          <a:solidFill>
            <a:srgbClr val="0A4D8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Recruiter Posts Job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Alumni posts drive with criteria (CGPA, backlogs, branch) and optional screening questions.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46304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645920"/>
            <a:ext cx="457200" cy="457200"/>
          </a:xfrm>
          <a:prstGeom prst="ellipse">
            <a:avLst/>
          </a:prstGeom>
          <a:solidFill>
            <a:srgbClr val="0A4D8C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Admin Moderation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22402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Placement officer verifies company legitimacy and approves posting. Job status transitions to APPROVED.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46304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645920"/>
            <a:ext cx="457200" cy="457200"/>
          </a:xfrm>
          <a:prstGeom prst="ellipse">
            <a:avLst/>
          </a:prstGeom>
          <a:solidFill>
            <a:srgbClr val="0A4D8C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Student Discovery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22402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Matching engine evaluates student profile and displays match percentage and eligibility badges.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74904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3931920"/>
            <a:ext cx="457200" cy="457200"/>
          </a:xfrm>
          <a:prstGeom prst="ellipse">
            <a:avLst/>
          </a:prstGeom>
          <a:solidFill>
            <a:srgbClr val="0A4D8C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Screening &amp; Apply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5262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Student answers screening questions (relocation, bond) and submits application with resume.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374904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931920"/>
            <a:ext cx="457200" cy="457200"/>
          </a:xfrm>
          <a:prstGeom prst="ellipse">
            <a:avLst/>
          </a:prstGeom>
          <a:solidFill>
            <a:srgbClr val="0A4D8C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Recruiter 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17720" y="45262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Recruiter inspects candidate responses, downloads resume, and moves status to SHORTLISTED.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46720" y="374904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5320" y="3931920"/>
            <a:ext cx="457200" cy="457200"/>
          </a:xfrm>
          <a:prstGeom prst="ellipse">
            <a:avLst/>
          </a:prstGeom>
          <a:solidFill>
            <a:srgbClr val="0A4D8C"/>
          </a:solidFill>
          <a:ln/>
        </p:spPr>
      </p:sp>
      <p:sp>
        <p:nvSpPr>
          <p:cNvPr id="36" name="Text 34"/>
          <p:cNvSpPr/>
          <p:nvPr/>
        </p:nvSpPr>
        <p:spPr>
          <a:xfrm>
            <a:off x="82753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6968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Hiring &amp; Offer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75320" y="45262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Recruiter releases final selection status (SELECTED). Audit logs record hiring completion.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TECHNICAL BLUEPRINT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Layered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9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2286000" cy="804672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6304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TIER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55448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React 19 Single Page App • Vite 6 Bundler • Tailwind CSS 4.1 Theme • React Router 7.13 RBAC Guards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377440"/>
            <a:ext cx="2286000" cy="80467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7744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GATEWAY &amp; NETWORK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46888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Nginx Reverse Proxy / Cloudflare Pages • SSL/TLS Termination • CORS Policy Guard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291840"/>
            <a:ext cx="2286000" cy="804672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9184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TIER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Node.js &amp; Express.js REST API • JWT Cookie Authentication • Zod Schema Validation • Job Expiry Scheduler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06240"/>
            <a:ext cx="2286000" cy="80467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0624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&amp; STORAGE TIER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429768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PostgreSQL Relational DB • Prisma ORM 5.10 • pgvector Extension (768-dim Vector Space) • Cloudinary Media Storage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51206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120640"/>
            <a:ext cx="2286000" cy="804672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12064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INTELLIGENT SERVICES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521208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Neural OCR: Tesseract.js 7.0 + Sharp Preprocessor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Subsystem: Google Gemini 2.5 Flash + gemini-embedding-2 + RAG Retrieval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ENGINEERING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Verified 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10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FRONTEND SPA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React 19.0.0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148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Component-driven user interface with hooks and suspense.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46304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00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BUILD TOOLING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Vite 6.2.0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148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High-speed ESM bundling and Hot Module Replacement.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600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DESIGN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Tailwind CSS 4.1.14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2148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Institutional palette (#F47C20 Orange, #0A4D8C Navy).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154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BACKEND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Node.js &amp; Express 4.18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03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Asynchronous event-driven RESTful API micro-services.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301752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154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DATA ACCESS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Prisma ORM 5.10.0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3703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Type-safe schema modeling, migrations, and raw SQL queries.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301752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3154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RELATIONAL DB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PostgreSQL 14+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3703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ACID transactional data storage and relational constraints.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45720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709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VECTOR SEARCH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4937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pgvector 0.2.1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5257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Cosine distance (&lt;=&gt;) search over 768-dim embeddings.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0" y="45720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4709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GENERATIVE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4937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@google/genai 2.26.0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5257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Gemini 2.5 Flash chat and gemini-embedding-2 RAG model.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46720" y="457200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709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NEURAL OCR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4937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8C"/>
                </a:solidFill>
              </a:rPr>
              <a:t>Tesseract.js 7.0 &amp; Sharp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0" y="5257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On-premise image preprocessing and text extraction.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DATA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Database Schema &amp; Entity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11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2377440" cy="8046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D8C"/>
                </a:solidFill>
              </a:rPr>
              <a:t>IDENTITY &amp; RBAC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User, Student, Alumni, AdminProfile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600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1-to-1 relationships mapped from User identity; stores academic credentials, company roles, and verification status.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377440"/>
            <a:ext cx="2377440" cy="8046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D8C"/>
                </a:solidFill>
              </a:rPr>
              <a:t>RECRUITMENT LIFECYCLE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Job, Application, ScreeningAnswer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514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Governs job postings, applicant tracking, and screening answers; foreign key cascades maintain integrity.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91840"/>
            <a:ext cx="2377440" cy="8046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D8C"/>
                </a:solidFill>
              </a:rPr>
              <a:t>AI &amp; VECTOR ENGINE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KnowledgeDocument, KnowledgeChunk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34290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Stores chunked job descriptions and 768-dimensional vector embeddings for RAG retrieval.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206240"/>
            <a:ext cx="2377440" cy="8046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43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D8C"/>
                </a:solidFill>
              </a:rPr>
              <a:t>CONVERSATION HISTORY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617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AiConversation, AiMessage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43434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Maintains user chat sessions with model responses and linked source citation references.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120640"/>
            <a:ext cx="2377440" cy="8046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D8C"/>
                </a:solidFill>
              </a:rPr>
              <a:t>AUDIT &amp; VERIFICATION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5532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C20"/>
                </a:solidFill>
              </a:rPr>
              <a:t>OcrAuditLog, AuditLog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91840" y="52578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Stores SHA-256 document hashes, extracted fields, confidence scores, and administrative action logs.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APPLIED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AI Placement Assistant (Gemini &amp; RAG)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12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1097280" cy="804672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6304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572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Job Ingestion &amp; Vector Indexing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8470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Approved job posts are chunked and embedded via Google gemini-embedding-2 into 768-dim vectors stored in pgvector.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377440"/>
            <a:ext cx="1097280" cy="804672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7744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4871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Student Query &amp; Embedding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27614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When a student asks a placement question, the query is converted into an embedding in real-time.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91840"/>
            <a:ext cx="1097280" cy="804672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9184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401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pgvector Cosine Search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36758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Top-5 matching job chunks are retrieved via raw SQL cosine distance queries (ORDER BY embedding &lt;=&gt; query_vector).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206240"/>
            <a:ext cx="1097280" cy="804672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0624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Structured Context Injection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0" y="45902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student’s verified CGPA, department, backlogs, and application history are fetched directly from PostgreSQL.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120640"/>
            <a:ext cx="1097280" cy="804672"/>
          </a:xfrm>
          <a:prstGeom prst="rect">
            <a:avLst/>
          </a:prstGeom>
          <a:solidFill>
            <a:srgbClr val="0A4D8C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12064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5230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Grounded Response Generation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11680" y="5504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Gemini 2.5 Flash synthesizes the response using strict zero-hallucination guardrails and returns source citations.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COMPUTER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OCR Document Verification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13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6276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1. Tamper &amp; Duplicate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9659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Computes SHA-256 hash of certificate buffer; rejects instantly if hash matches previously verified registrations.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276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2. Sharp Image Preprocessing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Enhances scanned document contrast, normalizes DPI, and eliminates visual noise prior to text recognition.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017520"/>
            <a:ext cx="5212080" cy="73152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1821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3. Neural OCR Extraction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Tesseract.js worker executes Page Segmentation Mode (PSM 3) English character extraction.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017520"/>
            <a:ext cx="5212080" cy="73152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1821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4. Tri-Factor Fuzzy Matching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5204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Evaluates VVITU institutional tokens, extracts normalized alphanumeric roll number, and computes Dice similarity for name.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572000"/>
            <a:ext cx="5212080" cy="73152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7365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5. Central Decision Matrix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All fields match (&gt;85%) -&gt; VERIFIED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Discrepancies found -&gt; REJECTED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Low image clarity -&gt; PENDING_MANUAL_REVIEW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57200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572000"/>
            <a:ext cx="5212080" cy="73152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7365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6. Full Audit Traceability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5074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Every verification result, raw text snippet, confidence score, and IP address is persisted to ocr_audit_logs.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DEFENSE-IN-DEPTH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Security Architecture &amp; Data Protection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14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2011680" cy="8046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6304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1: Network &amp; Session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0" y="1572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HttpOnly Cookie JWT Authentication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18470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Tokens transmitted exclusively via HttpOnly, SameSite: Lax cookies, preventing JavaScript access and token theft via XSS.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377440"/>
            <a:ext cx="2011680" cy="8046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7744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2: Access Control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0" y="24871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Strict IDOR &amp; Multi-Role Authorization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761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Middleware enforces role verification; cross-tenant student checks prevent unauthorized access to peer resumes or applications.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91840"/>
            <a:ext cx="2011680" cy="8046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9184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3: Cryptography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0" y="3401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Bcrypt Password Hashing &amp; Salts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6758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User passwords hashed using bcryptjs with 10 salt rounds; mandatory password update flow upon initial administrative provisioning.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206240"/>
            <a:ext cx="2011680" cy="8046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0624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4: Data Validation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Zod Schemas &amp; Parameterized Queries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incoming API payloads sanitized via Zod schemas; Prisma ORM parameterization neutralizes SQL injection vectors.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10698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120640"/>
            <a:ext cx="2011680" cy="8046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12064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5: Storage Hardening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26080" y="5230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MIME Validation &amp; Path Sanitization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5504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File uploads restricted to PDF/PNG/JPEG under 10MB; path sanitization prevents directory traversal attacks.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ENGINEERING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Validation, Limitations &amp;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0936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55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Vasireddy Venkatadri International Technological University (VVITU) • B.Tech Major Project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4D8C"/>
                </a:solidFill>
              </a:rPr>
              <a:t>15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521208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TEST SUITE &amp; DEMONSTRATED RESULTS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• 36 Automated Jest Test Suites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- matching-engine.test.js: 6-factor weighted score accuracy
  - idor.test.js: Cross-student data boundary enforcement
  - ocr-verification-engine.test.js: Fuzzy match tolerances
  - job-expiry.test.js: Automatic expiry cron validation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• Sub-Second Vector Query Performance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- pgvector cosine distance search retrieves within 45ms.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• Verified End-to-End Onboarding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- Successful alumni registration and certificate verification.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5212080" cy="9144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CURRENT LIMITATIONS &amp; FUTURE ROADMAP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• Known Engineering Constraints: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- Synchronous OCR execution takes 2–4s for high-res images.
  - Local storage fallback used in dev environment.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A4D8C"/>
                </a:solidFill>
              </a:rPr>
              <a:t>• Future Architectural Roadmap: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1. Asynchronous Job Queue: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   Integrate BullMQ + Redis for background OCR parsing.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2. Event-Driven Notifications: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   Automated WhatsApp &amp; Email interview shortlisting alerts.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3. Semantic Resume Scoring: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   Direct vector similarity matching between resume &amp; job description.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4. Live Coding Profile Sync: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     Automatic API sync with LeetCode &amp; HackerRank.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4D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CONCLUSION &amp;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 of Project Contributions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10332720" cy="45720"/>
          </a:xfrm>
          <a:prstGeom prst="rect">
            <a:avLst/>
          </a:prstGeom>
          <a:solidFill>
            <a:srgbClr val="F47C2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60320"/>
            <a:ext cx="5029200" cy="1188720"/>
          </a:xfrm>
          <a:prstGeom prst="rect">
            <a:avLst/>
          </a:prstGeom>
          <a:solidFill>
            <a:srgbClr val="0F3B6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</a:rPr>
              <a:t>Operational Excellence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9718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Transformed fragmented spreadsheet operations into a high-performance, role-governed placement portal.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2560320"/>
            <a:ext cx="5029200" cy="1188720"/>
          </a:xfrm>
          <a:prstGeom prst="rect">
            <a:avLst/>
          </a:prstGeom>
          <a:solidFill>
            <a:srgbClr val="0F3B6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</a:rPr>
              <a:t>Academic &amp; System Trust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Neural OCR verification guarantees that only legitimate alumni post jobs, protecting student welfare.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5029200" cy="1188720"/>
          </a:xfrm>
          <a:prstGeom prst="rect">
            <a:avLst/>
          </a:prstGeom>
          <a:solidFill>
            <a:srgbClr val="0F3B6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069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</a:rPr>
              <a:t>Intelligent Automation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3434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Pioneered pgvector semantic retrieval and Google Gemini 2.5 Flash for grounded placement assistance.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029200" cy="1188720"/>
          </a:xfrm>
          <a:prstGeom prst="rect">
            <a:avLst/>
          </a:prstGeom>
          <a:solidFill>
            <a:srgbClr val="0F3B6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069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</a:rPr>
              <a:t>Production Ready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3434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Fully containerized with Docker, verified with 36 test suites, and ready for institutional deployment.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You! We are now open for Questions &amp; Live Demonstration.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Vasireddy Venkatadri International Technological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VVITU Placement Portal: Major Project Presentation</dc:title>
  <dc:subject>PptxGenJS Presentation</dc:subject>
  <dc:creator>VVITU Placement Cell Project Team</dc:creator>
  <cp:lastModifiedBy>VVITU Placement Cell Project Team</cp:lastModifiedBy>
  <cp:revision>1</cp:revision>
  <dcterms:created xsi:type="dcterms:W3CDTF">2026-10-12T13:46:36Z</dcterms:created>
  <dcterms:modified xsi:type="dcterms:W3CDTF">2026-10-12T13:46:36Z</dcterms:modified>
</cp:coreProperties>
</file>